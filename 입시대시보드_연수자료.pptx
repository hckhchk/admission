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CADCFC"/>
                </a:solidFill>
                <a:latin typeface="Calibri"/>
              </a:rPr>
              <a:t>한성과학고등학교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입시 결과 분석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D4950A"/>
                </a:solidFill>
                <a:latin typeface="Calibri"/>
              </a:rPr>
              <a:t>연수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대학교별 내신 등급 분포 시각화  ·  학생 상담 실전 활용법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A4A"/>
                </a:solidFill>
                <a:latin typeface="Calibri"/>
              </a:rPr>
              <a:t>연수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042416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424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0241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기본 필터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2412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연도 · 전형 · 계열 · 성적 기준 선택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09344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59105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박스 플롯 읽는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910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분포 구조 · 수염 · 개별 점의 의미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1579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범례 구분 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579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합격 상태 · 추가합격 · 미응시 구분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드릴다운 모달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2491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연도별 · 학과별 · 전형별 상세 분석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291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내 등급 기준선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918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학생 상담 실전 활용법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877055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7705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858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해석 시 주의사항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587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데이터 신뢰도 판단 기준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443983"/>
            <a:ext cx="384048" cy="38404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4398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4256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기능 전체 체크리스트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42569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구현된 기능 목록 한눈에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01  기본 필터 조작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78992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8871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연도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27631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다중 선택 가능
여러 연도 합산으로 경향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78992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18871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학년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554480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627631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졸업 기준 학년 구분
(1 ~ 3학년)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78992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8871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전형 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27631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학생부종합 / 논술
특기자전형 / 특별전형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788920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89864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계열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264408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33756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일반계열
메디컬계열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788920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89864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성적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3264408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6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국영수과 등평
↕  전교과 등평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788920"/>
            <a:ext cx="27432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89864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2A4A"/>
                </a:solidFill>
                <a:latin typeface="Calibri"/>
              </a:rPr>
              <a:t>합격 없는 대학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3264408"/>
            <a:ext cx="242316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333756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표시 여부를
토글로 제어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02  박스 플롯 읽는 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1170432"/>
            <a:ext cx="0" cy="548640"/>
          </a:xfrm>
          <a:prstGeom prst="line">
            <a:avLst/>
          </a:prstGeom>
          <a:ln w="31750">
            <a:solidFill>
              <a:srgbClr val="2E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2926080"/>
            <a:ext cx="0" cy="566928"/>
          </a:xfrm>
          <a:prstGeom prst="line">
            <a:avLst/>
          </a:prstGeom>
          <a:ln w="31750">
            <a:solidFill>
              <a:srgbClr val="2E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170432"/>
            <a:ext cx="1280160" cy="0"/>
          </a:xfrm>
          <a:prstGeom prst="line">
            <a:avLst/>
          </a:prstGeom>
          <a:ln w="31750">
            <a:solidFill>
              <a:srgbClr val="2E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3493008"/>
            <a:ext cx="1280160" cy="0"/>
          </a:xfrm>
          <a:prstGeom prst="line">
            <a:avLst/>
          </a:prstGeom>
          <a:ln w="31750">
            <a:solidFill>
              <a:srgbClr val="2E5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1719072"/>
            <a:ext cx="1280160" cy="1207008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31750">
            <a:solidFill>
              <a:srgbClr val="2E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88720" y="2304288"/>
            <a:ext cx="1280160" cy="0"/>
          </a:xfrm>
          <a:prstGeom prst="line">
            <a:avLst/>
          </a:prstGeom>
          <a:ln w="44450">
            <a:solidFill>
              <a:srgbClr val="1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00200" y="1353312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4520" y="1810511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39" y="1965960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11096" y="2450592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19072" y="2679192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6232" y="3063240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27632" y="3209544"/>
            <a:ext cx="128016" cy="128016"/>
          </a:xfrm>
          <a:prstGeom prst="ellipse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9692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위 수염 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243584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Q3 + 1.5×IQR 이하 실제 최댓값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1591055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Q3  (75% 위치)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865375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중간 50% 구간 상단 경계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17627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A4A"/>
                </a:solidFill>
                <a:latin typeface="Calibri"/>
              </a:rPr>
              <a:t>중앙값 (Median)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450591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50% 위치 · 박스 안 가로선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7980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Q1  (25% 위치)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072384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중간 50% 구간 하단 경계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43814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아래 수염 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712463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Q1 − 1.5×IQR 이상 실제 최솟값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79" y="1956816"/>
            <a:ext cx="804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2A4A"/>
                </a:solidFill>
                <a:latin typeface="Calibri"/>
              </a:rPr>
              <a:t>IQR
(박스 높이)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078992"/>
            <a:ext cx="42519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1704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A4A"/>
                </a:solidFill>
                <a:latin typeface="Calibri"/>
              </a:rPr>
              <a:t>핵심 포인트</a:t>
            </a:r>
          </a:p>
        </p:txBody>
      </p:sp>
      <p:sp>
        <p:nvSpPr>
          <p:cNvPr id="30" name="Oval 29"/>
          <p:cNvSpPr/>
          <p:nvPr/>
        </p:nvSpPr>
        <p:spPr>
          <a:xfrm>
            <a:off x="4754880" y="1737360"/>
            <a:ext cx="182880" cy="18288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169164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박스 높이 = IQR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9659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중간 50% 학생의 등급 분포 범위</a:t>
            </a:r>
          </a:p>
        </p:txBody>
      </p:sp>
      <p:sp>
        <p:nvSpPr>
          <p:cNvPr id="33" name="Oval 32"/>
          <p:cNvSpPr/>
          <p:nvPr/>
        </p:nvSpPr>
        <p:spPr>
          <a:xfrm>
            <a:off x="4754880" y="2331720"/>
            <a:ext cx="182880" cy="18288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28600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수염 범위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56032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IQR × 1.5 내 실제 데이터까지</a:t>
            </a:r>
          </a:p>
        </p:txBody>
      </p:sp>
      <p:sp>
        <p:nvSpPr>
          <p:cNvPr id="36" name="Oval 35"/>
          <p:cNvSpPr/>
          <p:nvPr/>
        </p:nvSpPr>
        <p:spPr>
          <a:xfrm>
            <a:off x="4754880" y="2926080"/>
            <a:ext cx="182880" cy="18288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28803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개별 점 (●)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15468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실제 지원 학생 한 명 한 명</a:t>
            </a:r>
          </a:p>
        </p:txBody>
      </p:sp>
      <p:sp>
        <p:nvSpPr>
          <p:cNvPr id="39" name="Oval 38"/>
          <p:cNvSpPr/>
          <p:nvPr/>
        </p:nvSpPr>
        <p:spPr>
          <a:xfrm>
            <a:off x="4754880" y="3520440"/>
            <a:ext cx="182880" cy="18288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347472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Y축 방향 주의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74904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숫자가 낮을수록 우수한 성적</a:t>
            </a:r>
          </a:p>
        </p:txBody>
      </p:sp>
      <p:sp>
        <p:nvSpPr>
          <p:cNvPr id="42" name="Oval 41"/>
          <p:cNvSpPr/>
          <p:nvPr/>
        </p:nvSpPr>
        <p:spPr>
          <a:xfrm>
            <a:off x="4754880" y="4114800"/>
            <a:ext cx="182880" cy="18288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06908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X축 괄호 표기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3434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(최종합격수 / 총지원수)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03  범례 구분 이해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78992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252728"/>
            <a:ext cx="310896" cy="310896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612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최종합격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35607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최종 합격한 학생의 성적 분포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56231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029967"/>
            <a:ext cx="310896" cy="31089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3852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└ 추가합격  (PC 전용)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추가합격 토글 ON 시 주황색 구분 · 최초합격보다 등급이 낮을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33472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807208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157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1차합격_최종탈락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0088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1차 합격 후 최종 불합격 (등록 포기, 타교 합격 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10711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584447"/>
            <a:ext cx="310896" cy="310896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49300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└ ✕  미응시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67327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2차 시험 미응시 — 박스 통계에서 제외, 해석 시 참고만 권장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87952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4361688"/>
            <a:ext cx="310896" cy="310896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702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1차탈락  (참고)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44568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1차 탈락 학생 데이터 — 지원 가능 하한선 파악 시 참고용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04  드릴다운 모달 활용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9525">
            <a:solidFill>
              <a:srgbClr val="2E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61288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A4A"/>
                </a:solidFill>
                <a:latin typeface="Calibri"/>
              </a:rPr>
              <a:t>박스 플롯에서 대학명을 클릭하면 상세 분석 팝업이 열립니다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7432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탭 1  연도별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연도별 합격선 변화 추이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특정 연도 이상치 여부 파악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최근 3년 트렌드 중심 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737360"/>
            <a:ext cx="27432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828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탭 2  학과별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2316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모집단위별 등급 분포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004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유리한 학과 탐색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77639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학과 간 합격선 격차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37360"/>
            <a:ext cx="27432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탭 3  전형별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2316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전형명칭별 합격선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004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학생부종합 vs 논술 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같은 대학 내 전형 간 전략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05  내 등급 기준선 활용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78992"/>
            <a:ext cx="40233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A4A"/>
                </a:solidFill>
                <a:latin typeface="Calibri"/>
              </a:rPr>
              <a:t>사용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19072"/>
            <a:ext cx="1417320" cy="329184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① 등급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상단 입력칸에 학생의 등평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4912"/>
            <a:ext cx="1417320" cy="329184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② 빨간 점선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차트에 빨간 수평 기준선이 표시됨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30752"/>
            <a:ext cx="1417320" cy="329184"/>
          </a:xfrm>
          <a:prstGeom prst="roundRect">
            <a:avLst>
              <a:gd name="adj" fmla="val 10000"/>
            </a:avLst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3075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③ 요약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3308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하단에 안정권·적정권·도전권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대학 목록이 자동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078992"/>
            <a:ext cx="41605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17043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A4A"/>
                </a:solidFill>
                <a:latin typeface="Calibri"/>
              </a:rPr>
              <a:t>상담 활용 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719072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• 등급 입력 → 합격 가능성 시각적 파악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13432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• 최근 2~3년도만 선택해 최신 트렌드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907791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• 학과별 탭으로 같은 대학 내 유리한 학과 발견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02152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• 전형별 탭으로 학생부종합 vs 논술 전략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96512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• 1차탈락 데이터 참고해 지원 가능 하한선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06  해석 시 주의사항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271016"/>
            <a:ext cx="310896" cy="310896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710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1795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데이터 수가 적은 대학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463040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샘플이 적으면 통계적 신뢰도 낮음 — 점의 수를 확인하고 해석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74519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2048255"/>
            <a:ext cx="310896" cy="310896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4825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95681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미응시 X 마커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240279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2차 시험 미응시자는 실질 경쟁 데이터가 아니므로 합격선 산출 시 제외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51760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825496"/>
            <a:ext cx="310896" cy="310896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254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7340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KAIST 분리 표기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017520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KAIST(일반전형)와 KAIST(창의도전)은 별개 전형으로 분리 표기됨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3602736"/>
            <a:ext cx="310896" cy="310896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6027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5112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추가합격 해석 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794760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추가합격자 등급이 최초합격보다 낮을 수 있어 단순 비교 금물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06240"/>
            <a:ext cx="841248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4379976"/>
            <a:ext cx="310896" cy="310896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3799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2885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2E"/>
                </a:solidFill>
                <a:latin typeface="Calibri"/>
              </a:rPr>
              <a:t>연도별 전형 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572000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해마다 선발 방식이 달라지므로 최신 연도 데이터를 우선 참고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07  기능 전체 체크리스트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663440" y="1024128"/>
            <a:ext cx="0" cy="3977640"/>
          </a:xfrm>
          <a:prstGeom prst="line">
            <a:avLst/>
          </a:prstGeom>
          <a:ln w="12700">
            <a:solidFill>
              <a:srgbClr val="D1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필터 · 조건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연도 다중 선택 / 학년 필터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전형 탭 (학생부종합·논술·특기자·특별)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계열 전환 (일반 ↔ 메디컬)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성적 기준 전환 (국영수과 ↔ 전교과)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합격 없는 대학 표시 토글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추가합격 구분  (PC 전용)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토글 ON 시 추가합격 점 주황색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08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최초합격 / 추가합격 범례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747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미응시 별도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49039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✕ 마커로 박스와 분리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77639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박스 통계(중앙값·IQR)에서 제외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434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내 등급 기준선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177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빨간 점선 수평선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안정권 · 적정권 · 도전권 자동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드릴다운 모달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3258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대학명 클릭 → 연도별 · 학과별 · 전형별 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5544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학과 키워드 검색 (다중 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7830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줌 · 팬 (휠 스크롤 + 드래그)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1488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마우스 호버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4231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학과명 · 합격 구분 (최초 / 추가)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6517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⚠ 수능최저 미충족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8803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예비번호 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108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추가합격 상세 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3375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등록 여부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7033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접근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977639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Google 로그인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0624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허가된 교사 계정만 접근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5720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A4A"/>
                </a:solidFill>
                <a:latin typeface="Calibri"/>
              </a:rPr>
              <a:t>✅  모바일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8463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핀치줌 / 드래그 스크롤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0749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   · 반응형 레이아웃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93392"/>
            <a:ext cx="9144000" cy="1161288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한성과학고등학교 입시 결과 분석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궁금한 기능이나 추가 요청이 있으시면 언제든 말씀해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